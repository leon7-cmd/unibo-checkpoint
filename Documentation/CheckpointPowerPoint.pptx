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us Jakarta Sans ExtraBold"/>
      <p:bold r:id="rId11"/>
      <p:boldItalic r:id="rId12"/>
    </p:embeddedFont>
    <p:embeddedFont>
      <p:font typeface="Plus Jakarta Sans"/>
      <p:regular r:id="rId13"/>
      <p:bold r:id="rId14"/>
      <p:italic r:id="rId15"/>
      <p:boldItalic r:id="rId16"/>
    </p:embeddedFont>
    <p:embeddedFont>
      <p:font typeface="Plus Jakarta Sans SemiBold"/>
      <p:regular r:id="rId17"/>
      <p:bold r:id="rId18"/>
      <p:italic r:id="rId19"/>
      <p:boldItalic r:id="rId20"/>
    </p:embeddedFont>
    <p:embeddedFont>
      <p:font typeface="Plus Jakarta Sa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SemiBold-boldItalic.fntdata"/><Relationship Id="rId11" Type="http://schemas.openxmlformats.org/officeDocument/2006/relationships/font" Target="fonts/PlusJakartaSansExtraBold-bold.fntdata"/><Relationship Id="rId22" Type="http://schemas.openxmlformats.org/officeDocument/2006/relationships/font" Target="fonts/PlusJakartaSansMedium-bold.fntdata"/><Relationship Id="rId10" Type="http://schemas.openxmlformats.org/officeDocument/2006/relationships/slide" Target="slides/slide5.xml"/><Relationship Id="rId21" Type="http://schemas.openxmlformats.org/officeDocument/2006/relationships/font" Target="fonts/PlusJakartaSansMedium-regular.fntdata"/><Relationship Id="rId13" Type="http://schemas.openxmlformats.org/officeDocument/2006/relationships/font" Target="fonts/PlusJakartaSans-regular.fntdata"/><Relationship Id="rId24" Type="http://schemas.openxmlformats.org/officeDocument/2006/relationships/font" Target="fonts/PlusJakartaSansMedium-boldItalic.fntdata"/><Relationship Id="rId12" Type="http://schemas.openxmlformats.org/officeDocument/2006/relationships/font" Target="fonts/PlusJakartaSansExtraBold-boldItalic.fntdata"/><Relationship Id="rId23" Type="http://schemas.openxmlformats.org/officeDocument/2006/relationships/font" Target="fonts/PlusJakarta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PlusJakartaSansSemiBold-regular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SemiBold-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abf97012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abf97012_6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3" Type="http://schemas.openxmlformats.org/officeDocument/2006/relationships/image" Target="../media/image9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Relationship Id="rId15" Type="http://schemas.openxmlformats.org/officeDocument/2006/relationships/image" Target="../media/image25.png"/><Relationship Id="rId1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45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0.png"/><Relationship Id="rId13" Type="http://schemas.openxmlformats.org/officeDocument/2006/relationships/image" Target="../media/image39.jpg"/><Relationship Id="rId1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15" Type="http://schemas.openxmlformats.org/officeDocument/2006/relationships/image" Target="../media/image50.jpg"/><Relationship Id="rId14" Type="http://schemas.openxmlformats.org/officeDocument/2006/relationships/image" Target="../media/image53.jpg"/><Relationship Id="rId17" Type="http://schemas.openxmlformats.org/officeDocument/2006/relationships/image" Target="../media/image26.png"/><Relationship Id="rId16" Type="http://schemas.openxmlformats.org/officeDocument/2006/relationships/image" Target="../media/image51.jpg"/><Relationship Id="rId5" Type="http://schemas.openxmlformats.org/officeDocument/2006/relationships/image" Target="../media/image28.jpg"/><Relationship Id="rId6" Type="http://schemas.openxmlformats.org/officeDocument/2006/relationships/image" Target="../media/image29.png"/><Relationship Id="rId7" Type="http://schemas.openxmlformats.org/officeDocument/2006/relationships/image" Target="../media/image46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jpg"/><Relationship Id="rId10" Type="http://schemas.openxmlformats.org/officeDocument/2006/relationships/image" Target="../media/image52.jpg"/><Relationship Id="rId13" Type="http://schemas.openxmlformats.org/officeDocument/2006/relationships/image" Target="../media/image49.png"/><Relationship Id="rId12" Type="http://schemas.openxmlformats.org/officeDocument/2006/relationships/image" Target="../media/image4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image" Target="../media/image40.jpg"/><Relationship Id="rId15" Type="http://schemas.openxmlformats.org/officeDocument/2006/relationships/image" Target="../media/image48.png"/><Relationship Id="rId14" Type="http://schemas.openxmlformats.org/officeDocument/2006/relationships/image" Target="../media/image41.png"/><Relationship Id="rId17" Type="http://schemas.openxmlformats.org/officeDocument/2006/relationships/image" Target="../media/image43.png"/><Relationship Id="rId16" Type="http://schemas.openxmlformats.org/officeDocument/2006/relationships/image" Target="../media/image37.png"/><Relationship Id="rId5" Type="http://schemas.openxmlformats.org/officeDocument/2006/relationships/image" Target="../media/image47.png"/><Relationship Id="rId6" Type="http://schemas.openxmlformats.org/officeDocument/2006/relationships/image" Target="../media/image32.png"/><Relationship Id="rId7" Type="http://schemas.openxmlformats.org/officeDocument/2006/relationships/image" Target="../media/image42.png"/><Relationship Id="rId8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8887" y="4051845"/>
            <a:ext cx="713422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760708" y="2539305"/>
            <a:ext cx="5470683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0" u="none" cap="none" strike="noStrike">
                <a:solidFill>
                  <a:srgbClr val="F1F5F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CHECKPOINT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90899" y="3429005"/>
            <a:ext cx="60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Mobile Game </a:t>
            </a:r>
            <a:r>
              <a:rPr lang="en-US" sz="165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Library &amp; Achievements Tracker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76523" y="4251875"/>
            <a:ext cx="13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Studente</a:t>
            </a: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Leonardo Galimi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4424362" y="427092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636725" y="4251875"/>
            <a:ext cx="28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Materia</a:t>
            </a: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200" u="none" cap="none" strike="noStrik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Programmazione di Sistemi Mobile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653337" y="427092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802398" y="4251875"/>
            <a:ext cx="150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Anno Accademico</a:t>
            </a: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A.A. 2025 / 2026</a:t>
            </a:r>
            <a:endParaRPr/>
          </a:p>
        </p:txBody>
      </p:sp>
      <p:pic>
        <p:nvPicPr>
          <p:cNvPr id="93" name="Google Shape;93;p13" title="ic_launcher-playstore copy.png"/>
          <p:cNvPicPr preferRelativeResize="0"/>
          <p:nvPr/>
        </p:nvPicPr>
        <p:blipFill rotWithShape="1">
          <a:blip r:embed="rId5">
            <a:alphaModFix/>
          </a:blip>
          <a:srcRect b="3131" l="0" r="0" t="3122"/>
          <a:stretch/>
        </p:blipFill>
        <p:spPr>
          <a:xfrm>
            <a:off x="3090862" y="2615505"/>
            <a:ext cx="609600" cy="571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005012"/>
            <a:ext cx="54578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005012"/>
            <a:ext cx="54578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3848100"/>
            <a:ext cx="5457825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848100"/>
            <a:ext cx="5457825" cy="165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3252787" y="2014537"/>
            <a:ext cx="38100" cy="163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81050" y="2776537"/>
            <a:ext cx="49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Organizzazione personalizzata dei videogiochi per stato (</a:t>
            </a:r>
            <a:r>
              <a:rPr b="0" i="1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 Giocare, In Corso, Completati</a:t>
            </a: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con voti personali,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lista di completamento per gli 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achievement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</a:t>
            </a: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</a:t>
            </a: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dei preferiti.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8901112" y="2014537"/>
            <a:ext cx="38100" cy="163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429375" y="2776537"/>
            <a:ext cx="49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Motore di ricerca globale e sincronizzazione da fonti ufficiali (IGDB, Steam). Schede complete con sviluppatori, generi, date di rilascio, trama, tag, achievement e recensioni degli utenti.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3252787" y="3857625"/>
            <a:ext cx="38100" cy="163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81050" y="4619625"/>
            <a:ext cx="49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Guadagno di XP ad ogni attività, incremento progressivo del livello utente, sblocco di badge esclusivi e visualizzazione delle statistiche, nella propria pagina personale.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8901112" y="3857625"/>
            <a:ext cx="38100" cy="163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429375" y="4619625"/>
            <a:ext cx="49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Aggiunta amici tramite Friend Code univoco, gestione asincrona delle richieste e controllo personalizzato della privacy su statistiche, badge e libreria personale.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22431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333500" y="2338387"/>
            <a:ext cx="15801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 Libreria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2431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981825" y="2338387"/>
            <a:ext cx="14501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Catalogo &amp; Dati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40862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333500" y="4181475"/>
            <a:ext cx="1660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Gamification &amp; XP</a:t>
            </a:r>
            <a:endParaRPr/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29375" y="40862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981825" y="4181475"/>
            <a:ext cx="14701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&amp; Privacy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1062" y="23574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43675" y="23574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1062" y="42005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19862" y="42005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542925" y="466725"/>
            <a:ext cx="116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SCOPO DELL'APP &amp; </a:t>
            </a:r>
            <a:r>
              <a:rPr lang="en-US" sz="24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FUNZIONALITÀ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4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PRINCIPALI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210250" y="-1921575"/>
            <a:ext cx="954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2199530"/>
            <a:ext cx="5419725" cy="3106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350" y="2199530"/>
            <a:ext cx="5419725" cy="310648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14425" y="2456705"/>
            <a:ext cx="4591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Frontend &amp; UI Patterns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800100" y="2809130"/>
            <a:ext cx="490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772275" y="2456705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Backend, Storage &amp; API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6486525" y="2809130"/>
            <a:ext cx="490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248051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48051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3004393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085850" y="2980575"/>
            <a:ext cx="3099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Kotlin Nativo &amp; Jetpack Compose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88136" y="3171229"/>
            <a:ext cx="4434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Interfaccia utente interamente dichiarativa basata su Material Design 3 e componenti custom riutilizzabili.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3738264"/>
            <a:ext cx="1524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066800" y="3714450"/>
            <a:ext cx="3099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Architettura MVVM Reattiva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66800" y="3905101"/>
            <a:ext cx="46386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Netta separazione delle responsabilità (MVVM) con propagazione reattiva dello stato alla UI mediante StateFlow e Kotlin Coroutines.</a:t>
            </a:r>
            <a:endParaRPr/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4481661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1047750" y="4457850"/>
            <a:ext cx="28659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</a:t>
            </a:r>
            <a:r>
              <a:rPr lang="en-US" sz="1087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ema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047750" y="4648497"/>
            <a:ext cx="4657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Temi Chiaro/Scuro/Sistema, 6 colori personalizzati e rollback automatico in caso di uscita senza salvataggio.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004393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6715125" y="2980575"/>
            <a:ext cx="27231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Persistenza Offline-First (Room)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715125" y="3171229"/>
            <a:ext cx="46767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Persistenza locale su SQLite tramite Room per caching dei dati, riduzione delle chiamate di rete e supporto offline.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3738264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6724650" y="3714450"/>
            <a:ext cx="25254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Cloud Firebase Ecosystem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724650" y="3905101"/>
            <a:ext cx="46674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Firebase Auth per l'autenticazione sicura e Cloud Firestore per la sincronizzazione in tempo reale di libreria e profilo multi-dispositivo.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51220" y="4472136"/>
            <a:ext cx="1714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6736970" y="4448325"/>
            <a:ext cx="28659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API Esterne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736970" y="4638972"/>
            <a:ext cx="4619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Integrazione con IGDB (autenticazione Twitch OAuth) per la ricerca dei giochi, Steam Web API e RetroAchievements per la raccolta degli achievements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42925" y="46672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ARCHITETTURA E TECNOLOGIE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8100" y="1953725"/>
            <a:ext cx="54006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42925" y="466725"/>
            <a:ext cx="11649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MOCKUP E PROGETTAZIONE UX</a:t>
            </a:r>
            <a:endParaRPr/>
          </a:p>
        </p:txBody>
      </p:sp>
      <p:pic>
        <p:nvPicPr>
          <p:cNvPr id="164" name="Google Shape;164;p16" title="AppMockup (dragged) 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1187" y="2016875"/>
            <a:ext cx="5314500" cy="3759900"/>
          </a:xfrm>
          <a:prstGeom prst="roundRect">
            <a:avLst>
              <a:gd fmla="val 5555" name="adj"/>
            </a:avLst>
          </a:prstGeom>
          <a:noFill/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" y="3291929"/>
            <a:ext cx="5400675" cy="921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925" y="4366170"/>
            <a:ext cx="5400675" cy="921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348526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047750" y="3479597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 Modulari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047750" y="3717722"/>
            <a:ext cx="4695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 informative a blocchi ben definiti per la lettura immediata di achievement, statistiche personali e recensioni degli utenti.</a:t>
            </a:r>
            <a:endParaRPr/>
          </a:p>
        </p:txBody>
      </p:sp>
      <p:pic>
        <p:nvPicPr>
          <p:cNvPr descr="image.png" id="170" name="Google Shape;17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2950" y="455950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066800" y="4540967"/>
            <a:ext cx="491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System Atomico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066800" y="4779092"/>
            <a:ext cx="46767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Componenti riutilizzabili e modulari conformi alle linee guida Material Design 3  per garantire un'estetica uniforme e ordinata.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2925" y="2217687"/>
            <a:ext cx="5400675" cy="921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950" y="241101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1047750" y="2405355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Bottom Navigation Bar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047750" y="2643480"/>
            <a:ext cx="4695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Navigazione rapida tra le 5 sezioni principali dell'app: Profilo, Libreria, Cerca, Amici e Impostazioni.</a:t>
            </a:r>
            <a:endParaRPr/>
          </a:p>
        </p:txBody>
      </p:sp>
      <p:pic>
        <p:nvPicPr>
          <p:cNvPr id="177" name="Google Shape;177;p16" title="AppMockup (dragged).jp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41187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" name="Google Shape;178;p16" title="AppMockup (dragged) 2.jp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41200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9" name="Google Shape;179;p16" title="AppMockup.jpg"/>
          <p:cNvPicPr preferRelativeResize="0"/>
          <p:nvPr/>
        </p:nvPicPr>
        <p:blipFill rotWithShape="1">
          <a:blip r:embed="rId14">
            <a:alphaModFix/>
          </a:blip>
          <a:srcRect b="0" l="40" r="50" t="0"/>
          <a:stretch/>
        </p:blipFill>
        <p:spPr>
          <a:xfrm>
            <a:off x="6341187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16" title="AppMockup.jpg"/>
          <p:cNvPicPr preferRelativeResize="0"/>
          <p:nvPr/>
        </p:nvPicPr>
        <p:blipFill rotWithShape="1">
          <a:blip r:embed="rId15">
            <a:alphaModFix/>
          </a:blip>
          <a:srcRect b="0" l="40" r="50" t="0"/>
          <a:stretch/>
        </p:blipFill>
        <p:spPr>
          <a:xfrm>
            <a:off x="6341212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16" title="AppMockup.jpg"/>
          <p:cNvPicPr preferRelativeResize="0"/>
          <p:nvPr/>
        </p:nvPicPr>
        <p:blipFill rotWithShape="1">
          <a:blip r:embed="rId16">
            <a:alphaModFix/>
          </a:blip>
          <a:srcRect b="0" l="40" r="50" t="0"/>
          <a:stretch/>
        </p:blipFill>
        <p:spPr>
          <a:xfrm>
            <a:off x="6341212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p16" title="AppMockup (dragged) 5.png"/>
          <p:cNvPicPr preferRelativeResize="0"/>
          <p:nvPr/>
        </p:nvPicPr>
        <p:blipFill rotWithShape="1">
          <a:blip r:embed="rId17">
            <a:alphaModFix/>
          </a:blip>
          <a:srcRect b="10" l="0" r="0" t="0"/>
          <a:stretch/>
        </p:blipFill>
        <p:spPr>
          <a:xfrm>
            <a:off x="6341187" y="2016875"/>
            <a:ext cx="5314500" cy="3759900"/>
          </a:xfrm>
          <a:prstGeom prst="roundRect">
            <a:avLst>
              <a:gd fmla="val 6322" name="adj"/>
            </a:avLst>
          </a:prstGeom>
          <a:noFill/>
          <a:ln cap="flat" cmpd="sng" w="1905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5" y="1221658"/>
            <a:ext cx="21145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1775" y="1221658"/>
            <a:ext cx="21145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725" y="1221658"/>
            <a:ext cx="21145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5675" y="1221658"/>
            <a:ext cx="21145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2625" y="1221658"/>
            <a:ext cx="21145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595539" y="5507908"/>
            <a:ext cx="191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Profilo</a:t>
            </a:r>
            <a:endParaRPr b="1" i="0" sz="1200" u="none" cap="none" strike="noStrik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XP, Livello</a:t>
            </a:r>
            <a:r>
              <a:rPr lang="en-US" sz="12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Statistiche, Codice Amico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2771775" y="5507908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Libreria</a:t>
            </a: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200" u="none" cap="none" strike="noStrike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Varie sezioni espandibili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5038725" y="5507908"/>
            <a:ext cx="211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Dettaglio</a:t>
            </a:r>
            <a:endParaRPr b="1" i="0" sz="1200" u="none" cap="none" strike="noStrik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Dati da IGDB, Trama, Achievements &amp; Recensioni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305675" y="5507908"/>
            <a:ext cx="211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2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Amici</a:t>
            </a:r>
            <a:endParaRPr b="1" sz="120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Ricerca e visualizzazione Amici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9572625" y="5507908"/>
            <a:ext cx="211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Settings</a:t>
            </a:r>
            <a:endParaRPr b="1" i="0" sz="1200" u="none" cap="none" strike="noStrik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Temi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Privacy</a:t>
            </a:r>
            <a:endParaRPr sz="12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7" name="Google Shape;197;p17" title="WhatsApp Image 2026-08-30 at 14.42.18.jpeg"/>
          <p:cNvPicPr preferRelativeResize="0"/>
          <p:nvPr/>
        </p:nvPicPr>
        <p:blipFill rotWithShape="1">
          <a:blip r:embed="rId8">
            <a:alphaModFix/>
          </a:blip>
          <a:srcRect b="3917" l="0" r="0" t="3917"/>
          <a:stretch/>
        </p:blipFill>
        <p:spPr>
          <a:xfrm>
            <a:off x="571500" y="1288333"/>
            <a:ext cx="1981200" cy="4057500"/>
          </a:xfrm>
          <a:prstGeom prst="roundRect">
            <a:avLst>
              <a:gd fmla="val 6605" name="adj"/>
            </a:avLst>
          </a:prstGeom>
          <a:noFill/>
          <a:ln>
            <a:noFill/>
          </a:ln>
        </p:spPr>
      </p:pic>
      <p:pic>
        <p:nvPicPr>
          <p:cNvPr id="198" name="Google Shape;198;p17" title="WhatsApp Image 2026-08-30 at 14.42.17.jpeg"/>
          <p:cNvPicPr preferRelativeResize="0"/>
          <p:nvPr/>
        </p:nvPicPr>
        <p:blipFill rotWithShape="1">
          <a:blip r:embed="rId9">
            <a:alphaModFix/>
          </a:blip>
          <a:srcRect b="3917" l="0" r="0" t="3917"/>
          <a:stretch/>
        </p:blipFill>
        <p:spPr>
          <a:xfrm>
            <a:off x="2838450" y="1288333"/>
            <a:ext cx="1981200" cy="4057500"/>
          </a:xfrm>
          <a:prstGeom prst="roundRect">
            <a:avLst>
              <a:gd fmla="val 7760" name="adj"/>
            </a:avLst>
          </a:prstGeom>
          <a:noFill/>
          <a:ln>
            <a:noFill/>
          </a:ln>
        </p:spPr>
      </p:pic>
      <p:pic>
        <p:nvPicPr>
          <p:cNvPr id="199" name="Google Shape;199;p17" title="WhatsApp Image 2026-08-30 at 14.42.15.jpeg"/>
          <p:cNvPicPr preferRelativeResize="0"/>
          <p:nvPr/>
        </p:nvPicPr>
        <p:blipFill rotWithShape="1">
          <a:blip r:embed="rId10">
            <a:alphaModFix/>
          </a:blip>
          <a:srcRect b="3917" l="0" r="0" t="3917"/>
          <a:stretch/>
        </p:blipFill>
        <p:spPr>
          <a:xfrm>
            <a:off x="5105400" y="1288333"/>
            <a:ext cx="1981200" cy="4057500"/>
          </a:xfrm>
          <a:prstGeom prst="roundRect">
            <a:avLst>
              <a:gd fmla="val 7459" name="adj"/>
            </a:avLst>
          </a:prstGeom>
          <a:noFill/>
          <a:ln>
            <a:noFill/>
          </a:ln>
        </p:spPr>
      </p:pic>
      <p:pic>
        <p:nvPicPr>
          <p:cNvPr id="200" name="Google Shape;200;p17" title="WhatsApp Image 2026-08-30 at 14.42.16.jpeg"/>
          <p:cNvPicPr preferRelativeResize="0"/>
          <p:nvPr/>
        </p:nvPicPr>
        <p:blipFill rotWithShape="1">
          <a:blip r:embed="rId11">
            <a:alphaModFix/>
          </a:blip>
          <a:srcRect b="3917" l="0" r="0" t="3917"/>
          <a:stretch/>
        </p:blipFill>
        <p:spPr>
          <a:xfrm>
            <a:off x="7372350" y="1288333"/>
            <a:ext cx="1981200" cy="4057500"/>
          </a:xfrm>
          <a:prstGeom prst="roundRect">
            <a:avLst>
              <a:gd fmla="val 6673" name="adj"/>
            </a:avLst>
          </a:prstGeom>
          <a:noFill/>
          <a:ln>
            <a:noFill/>
          </a:ln>
        </p:spPr>
      </p:pic>
      <p:pic>
        <p:nvPicPr>
          <p:cNvPr id="201" name="Google Shape;201;p17" title="WhatsApp Image 2026-08-30 at 14.44.32.jpeg"/>
          <p:cNvPicPr preferRelativeResize="0"/>
          <p:nvPr/>
        </p:nvPicPr>
        <p:blipFill rotWithShape="1">
          <a:blip r:embed="rId12">
            <a:alphaModFix/>
          </a:blip>
          <a:srcRect b="3917" l="0" r="0" t="3917"/>
          <a:stretch/>
        </p:blipFill>
        <p:spPr>
          <a:xfrm>
            <a:off x="9639300" y="1288333"/>
            <a:ext cx="1981200" cy="4057500"/>
          </a:xfrm>
          <a:prstGeom prst="roundRect">
            <a:avLst>
              <a:gd fmla="val 8799" name="adj"/>
            </a:avLst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84564" y="5536483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334960" y="5536483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69404" y="553648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51631" y="5536483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166879" y="553648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542925" y="466725"/>
            <a:ext cx="116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2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4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APP</a:t>
            </a:r>
            <a:r>
              <a:rPr b="0" i="0" lang="en-US" sz="24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4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SCREENSHOTS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